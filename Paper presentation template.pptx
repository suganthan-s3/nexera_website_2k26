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456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908431"/>
            <a:ext cx="9824085" cy="680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593C8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593C8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593C8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28722" y="1984678"/>
            <a:ext cx="15991205" cy="19050"/>
          </a:xfrm>
          <a:custGeom>
            <a:avLst/>
            <a:gdLst/>
            <a:ahLst/>
            <a:cxnLst/>
            <a:rect l="l" t="t" r="r" b="b"/>
            <a:pathLst>
              <a:path w="15991205" h="19050">
                <a:moveTo>
                  <a:pt x="0" y="19049"/>
                </a:moveTo>
                <a:lnTo>
                  <a:pt x="1599098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19709" y="593631"/>
            <a:ext cx="1076406" cy="10875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593C8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908431"/>
            <a:ext cx="10195560" cy="680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593C8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7092" y="3116753"/>
            <a:ext cx="14640560" cy="3279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3086100" cy="10287000"/>
            <a:chOff x="0" y="0"/>
            <a:chExt cx="3086100" cy="10287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3086100" cy="10287000"/>
            </a:xfrm>
            <a:custGeom>
              <a:avLst/>
              <a:gdLst/>
              <a:ahLst/>
              <a:cxnLst/>
              <a:rect l="l" t="t" r="r" b="b"/>
              <a:pathLst>
                <a:path w="3086100" h="10287000">
                  <a:moveTo>
                    <a:pt x="308609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3086099" y="0"/>
                  </a:lnTo>
                  <a:lnTo>
                    <a:pt x="3086099" y="10286999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584431"/>
              <a:ext cx="3086099" cy="311813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603560" y="277902"/>
            <a:ext cx="3169920" cy="1386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900" spc="-10" dirty="0"/>
              <a:t>TITLE</a:t>
            </a:r>
            <a:endParaRPr sz="8900"/>
          </a:p>
        </p:txBody>
      </p:sp>
      <p:sp>
        <p:nvSpPr>
          <p:cNvPr id="7" name="object 7"/>
          <p:cNvSpPr txBox="1"/>
          <p:nvPr/>
        </p:nvSpPr>
        <p:spPr>
          <a:xfrm>
            <a:off x="3500472" y="1490370"/>
            <a:ext cx="14276705" cy="8737648"/>
          </a:xfrm>
          <a:prstGeom prst="rect">
            <a:avLst/>
          </a:prstGeom>
          <a:ln>
            <a:noFill/>
          </a:ln>
        </p:spPr>
        <p:txBody>
          <a:bodyPr vert="horz" wrap="square" lIns="0" tIns="238125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875"/>
              </a:spcBef>
            </a:pPr>
            <a:r>
              <a:rPr sz="3700" dirty="0">
                <a:solidFill>
                  <a:srgbClr val="593C8F"/>
                </a:solidFill>
                <a:latin typeface="Times New Roman"/>
                <a:cs typeface="Times New Roman"/>
              </a:rPr>
              <a:t>THEME</a:t>
            </a:r>
            <a:r>
              <a:rPr sz="3700" spc="-155" dirty="0">
                <a:solidFill>
                  <a:srgbClr val="593C8F"/>
                </a:solidFill>
                <a:latin typeface="Times New Roman"/>
                <a:cs typeface="Times New Roman"/>
              </a:rPr>
              <a:t> </a:t>
            </a:r>
            <a:r>
              <a:rPr sz="3700" spc="-20" dirty="0">
                <a:solidFill>
                  <a:srgbClr val="593C8F"/>
                </a:solidFill>
                <a:latin typeface="Times New Roman"/>
                <a:cs typeface="Times New Roman"/>
              </a:rPr>
              <a:t>NAME:</a:t>
            </a:r>
            <a:endParaRPr sz="3700" dirty="0">
              <a:latin typeface="Times New Roman"/>
              <a:cs typeface="Times New Roman"/>
            </a:endParaRPr>
          </a:p>
          <a:p>
            <a:pPr marL="197485">
              <a:lnSpc>
                <a:spcPct val="100000"/>
              </a:lnSpc>
              <a:spcBef>
                <a:spcPts val="1775"/>
              </a:spcBef>
            </a:pPr>
            <a:r>
              <a:rPr sz="3700" dirty="0">
                <a:solidFill>
                  <a:srgbClr val="593C8F"/>
                </a:solidFill>
                <a:latin typeface="Times New Roman"/>
                <a:cs typeface="Times New Roman"/>
              </a:rPr>
              <a:t>TEAM</a:t>
            </a:r>
            <a:r>
              <a:rPr sz="3700" spc="-125" dirty="0">
                <a:solidFill>
                  <a:srgbClr val="593C8F"/>
                </a:solidFill>
                <a:latin typeface="Times New Roman"/>
                <a:cs typeface="Times New Roman"/>
              </a:rPr>
              <a:t> </a:t>
            </a:r>
            <a:r>
              <a:rPr sz="3700" spc="-10" dirty="0">
                <a:solidFill>
                  <a:srgbClr val="593C8F"/>
                </a:solidFill>
                <a:latin typeface="Times New Roman"/>
                <a:cs typeface="Times New Roman"/>
              </a:rPr>
              <a:t>NAME:</a:t>
            </a:r>
            <a:endParaRPr sz="3700" dirty="0">
              <a:latin typeface="Times New Roman"/>
              <a:cs typeface="Times New Roman"/>
            </a:endParaRPr>
          </a:p>
          <a:p>
            <a:pPr marL="197485">
              <a:lnSpc>
                <a:spcPct val="100000"/>
              </a:lnSpc>
              <a:spcBef>
                <a:spcPts val="1775"/>
              </a:spcBef>
            </a:pPr>
            <a:r>
              <a:rPr sz="3700" dirty="0">
                <a:solidFill>
                  <a:srgbClr val="593C8F"/>
                </a:solidFill>
                <a:latin typeface="Times New Roman"/>
                <a:cs typeface="Times New Roman"/>
              </a:rPr>
              <a:t>TEAM</a:t>
            </a:r>
            <a:r>
              <a:rPr sz="3700" spc="-120" dirty="0">
                <a:solidFill>
                  <a:srgbClr val="593C8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593C8F"/>
                </a:solidFill>
                <a:latin typeface="Times New Roman"/>
                <a:cs typeface="Times New Roman"/>
              </a:rPr>
              <a:t>MEMBERS</a:t>
            </a:r>
            <a:r>
              <a:rPr sz="3700" spc="-125" dirty="0">
                <a:solidFill>
                  <a:srgbClr val="593C8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593C8F"/>
                </a:solidFill>
                <a:latin typeface="Times New Roman"/>
                <a:cs typeface="Times New Roman"/>
              </a:rPr>
              <a:t>WITH</a:t>
            </a:r>
            <a:r>
              <a:rPr sz="3700" spc="-120" dirty="0">
                <a:solidFill>
                  <a:srgbClr val="593C8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593C8F"/>
                </a:solidFill>
                <a:latin typeface="Times New Roman"/>
                <a:cs typeface="Times New Roman"/>
              </a:rPr>
              <a:t>COLLEGE</a:t>
            </a:r>
            <a:r>
              <a:rPr sz="3700" spc="-120" dirty="0">
                <a:solidFill>
                  <a:srgbClr val="593C8F"/>
                </a:solidFill>
                <a:latin typeface="Times New Roman"/>
                <a:cs typeface="Times New Roman"/>
              </a:rPr>
              <a:t> </a:t>
            </a:r>
            <a:r>
              <a:rPr sz="3700" spc="-10" dirty="0">
                <a:solidFill>
                  <a:srgbClr val="593C8F"/>
                </a:solidFill>
                <a:latin typeface="Times New Roman"/>
                <a:cs typeface="Times New Roman"/>
              </a:rPr>
              <a:t>DETAILS:</a:t>
            </a:r>
            <a:endParaRPr sz="3700" dirty="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1515"/>
              </a:spcBef>
            </a:pPr>
            <a:r>
              <a:rPr lang="en-US" sz="4450" spc="-10" dirty="0">
                <a:solidFill>
                  <a:srgbClr val="593C8F"/>
                </a:solidFill>
                <a:latin typeface="Arial MT"/>
                <a:cs typeface="Arial MT"/>
              </a:rPr>
              <a:t> </a:t>
            </a:r>
            <a:r>
              <a:rPr lang="en-US" sz="4450" spc="-10" dirty="0" smtClean="0">
                <a:solidFill>
                  <a:srgbClr val="593C8F"/>
                </a:solidFill>
                <a:latin typeface="Arial MT"/>
                <a:cs typeface="Arial MT"/>
              </a:rPr>
              <a:t>     </a:t>
            </a:r>
          </a:p>
          <a:p>
            <a:pPr marL="1905" algn="ctr">
              <a:lnSpc>
                <a:spcPct val="100000"/>
              </a:lnSpc>
              <a:spcBef>
                <a:spcPts val="1515"/>
              </a:spcBef>
            </a:pPr>
            <a:endParaRPr lang="en-US" sz="4450" spc="-10" dirty="0">
              <a:solidFill>
                <a:srgbClr val="593C8F"/>
              </a:solidFill>
              <a:latin typeface="Arial MT"/>
              <a:cs typeface="Times New Roman" pitchFamily="18" charset="0"/>
            </a:endParaRPr>
          </a:p>
          <a:p>
            <a:pPr marL="1905" algn="ctr">
              <a:lnSpc>
                <a:spcPct val="100000"/>
              </a:lnSpc>
              <a:spcBef>
                <a:spcPts val="1515"/>
              </a:spcBef>
            </a:pPr>
            <a:r>
              <a:rPr lang="en-US" sz="4450" spc="-1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Presented in National Level Technical Symposium</a:t>
            </a:r>
            <a:endParaRPr lang="en-US" sz="4450" spc="-10" dirty="0" smtClean="0">
              <a:solidFill>
                <a:srgbClr val="593C8F"/>
              </a:solidFill>
              <a:latin typeface="Times New Roman" pitchFamily="18" charset="0"/>
              <a:cs typeface="Times New Roman" pitchFamily="18" charset="0"/>
            </a:endParaRPr>
          </a:p>
          <a:p>
            <a:pPr marL="1905" algn="ctr">
              <a:lnSpc>
                <a:spcPct val="100000"/>
              </a:lnSpc>
              <a:spcBef>
                <a:spcPts val="1515"/>
              </a:spcBef>
            </a:pPr>
            <a:r>
              <a:rPr lang="en-US" sz="4450" spc="-10" dirty="0" smtClean="0">
                <a:solidFill>
                  <a:srgbClr val="593C8F"/>
                </a:solidFill>
                <a:latin typeface="Arial MT"/>
                <a:cs typeface="Arial MT"/>
              </a:rPr>
              <a:t>NEXERA</a:t>
            </a:r>
            <a:r>
              <a:rPr sz="4450" spc="-10" dirty="0" smtClean="0">
                <a:solidFill>
                  <a:srgbClr val="593C8F"/>
                </a:solidFill>
                <a:latin typeface="Arial MT"/>
                <a:cs typeface="Arial MT"/>
              </a:rPr>
              <a:t>’2</a:t>
            </a:r>
            <a:r>
              <a:rPr lang="en-US" sz="4450" spc="-10" dirty="0" smtClean="0">
                <a:solidFill>
                  <a:srgbClr val="593C8F"/>
                </a:solidFill>
                <a:latin typeface="Arial MT"/>
                <a:cs typeface="Arial MT"/>
              </a:rPr>
              <a:t>6</a:t>
            </a:r>
          </a:p>
          <a:p>
            <a:pPr marL="1905" algn="ctr">
              <a:spcBef>
                <a:spcPts val="1515"/>
              </a:spcBef>
            </a:pPr>
            <a:r>
              <a:rPr lang="en-US" sz="3600" spc="-1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Paper presentation</a:t>
            </a:r>
            <a:endParaRPr lang="en-US" sz="3250" spc="-1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180"/>
              </a:spcBef>
            </a:pPr>
            <a:r>
              <a:rPr sz="3250" spc="-10" dirty="0" smtClean="0">
                <a:latin typeface="Times New Roman"/>
                <a:cs typeface="Times New Roman"/>
              </a:rPr>
              <a:t>COIMBATORE</a:t>
            </a:r>
            <a:r>
              <a:rPr sz="3250" spc="-125" dirty="0" smtClean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INSTITUTE</a:t>
            </a:r>
            <a:r>
              <a:rPr sz="3250" spc="-11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OF</a:t>
            </a:r>
            <a:r>
              <a:rPr sz="3250" spc="-114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TECHNOLOGY</a:t>
            </a:r>
            <a:endParaRPr sz="3250" dirty="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1570"/>
              </a:spcBef>
            </a:pPr>
            <a:r>
              <a:rPr sz="3050" dirty="0">
                <a:latin typeface="Times New Roman"/>
                <a:cs typeface="Times New Roman"/>
              </a:rPr>
              <a:t>Department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Electronics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and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Communication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Engineering</a:t>
            </a:r>
            <a:endParaRPr sz="305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1475"/>
              </a:spcBef>
            </a:pPr>
            <a:endParaRPr sz="2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7092" y="3301665"/>
            <a:ext cx="729170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50" dirty="0">
                <a:latin typeface="Times New Roman"/>
                <a:cs typeface="Times New Roman"/>
              </a:rPr>
              <a:t>Describe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your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idea/Solution/Prototype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here: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28722" y="1984678"/>
            <a:ext cx="15991205" cy="19050"/>
          </a:xfrm>
          <a:custGeom>
            <a:avLst/>
            <a:gdLst/>
            <a:ahLst/>
            <a:cxnLst/>
            <a:rect l="l" t="t" r="r" b="b"/>
            <a:pathLst>
              <a:path w="15991205" h="19050">
                <a:moveTo>
                  <a:pt x="0" y="19049"/>
                </a:moveTo>
                <a:lnTo>
                  <a:pt x="1599098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19709" y="593631"/>
            <a:ext cx="1076406" cy="10875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IDEA/APPROACH</a:t>
            </a:r>
            <a:r>
              <a:rPr spc="-75" dirty="0"/>
              <a:t> </a:t>
            </a:r>
            <a:r>
              <a:rPr spc="-10" dirty="0"/>
              <a:t>DETAILS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809625" cy="10287000"/>
          </a:xfrm>
          <a:custGeom>
            <a:avLst/>
            <a:gdLst/>
            <a:ahLst/>
            <a:cxnLst/>
            <a:rect l="l" t="t" r="r" b="b"/>
            <a:pathLst>
              <a:path w="809625" h="10287000">
                <a:moveTo>
                  <a:pt x="809276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809276" y="0"/>
                </a:lnTo>
                <a:lnTo>
                  <a:pt x="809276" y="10286999"/>
                </a:lnTo>
                <a:close/>
              </a:path>
            </a:pathLst>
          </a:custGeom>
          <a:solidFill>
            <a:srgbClr val="593C8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7092" y="3103545"/>
            <a:ext cx="15598775" cy="1412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3250" dirty="0">
                <a:latin typeface="Times New Roman"/>
                <a:cs typeface="Times New Roman"/>
              </a:rPr>
              <a:t>Add</a:t>
            </a:r>
            <a:r>
              <a:rPr sz="3250" spc="-3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Block</a:t>
            </a:r>
            <a:r>
              <a:rPr sz="3250" spc="-3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diagram/</a:t>
            </a:r>
            <a:r>
              <a:rPr sz="3250" spc="-3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process</a:t>
            </a:r>
            <a:r>
              <a:rPr sz="3250" spc="-3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flow</a:t>
            </a:r>
            <a:r>
              <a:rPr sz="3250" spc="-3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chart</a:t>
            </a:r>
            <a:r>
              <a:rPr sz="3250" spc="-3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or</a:t>
            </a:r>
            <a:r>
              <a:rPr sz="3250" spc="-3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simulated</a:t>
            </a:r>
            <a:r>
              <a:rPr sz="3250" spc="-2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image</a:t>
            </a:r>
            <a:r>
              <a:rPr sz="3250" spc="-3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of</a:t>
            </a:r>
            <a:r>
              <a:rPr sz="3250" spc="-2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prototype</a:t>
            </a:r>
            <a:r>
              <a:rPr sz="3250" spc="-3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or</a:t>
            </a:r>
            <a:r>
              <a:rPr sz="3250" spc="-3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any</a:t>
            </a:r>
            <a:r>
              <a:rPr sz="3250" spc="-2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relevant</a:t>
            </a:r>
            <a:r>
              <a:rPr sz="3250" spc="-3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image </a:t>
            </a:r>
            <a:r>
              <a:rPr sz="3250" dirty="0">
                <a:latin typeface="Times New Roman"/>
                <a:cs typeface="Times New Roman"/>
              </a:rPr>
              <a:t>related</a:t>
            </a:r>
            <a:r>
              <a:rPr sz="3250" spc="-2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to</a:t>
            </a:r>
            <a:r>
              <a:rPr sz="3250" spc="-2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your</a:t>
            </a:r>
            <a:r>
              <a:rPr sz="3250" spc="-20" dirty="0">
                <a:latin typeface="Times New Roman"/>
                <a:cs typeface="Times New Roman"/>
              </a:rPr>
              <a:t> idea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28722" y="1984678"/>
            <a:ext cx="15991205" cy="19050"/>
          </a:xfrm>
          <a:custGeom>
            <a:avLst/>
            <a:gdLst/>
            <a:ahLst/>
            <a:cxnLst/>
            <a:rect l="l" t="t" r="r" b="b"/>
            <a:pathLst>
              <a:path w="15991205" h="19050">
                <a:moveTo>
                  <a:pt x="0" y="19049"/>
                </a:moveTo>
                <a:lnTo>
                  <a:pt x="1599098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19709" y="593631"/>
            <a:ext cx="1076406" cy="10875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BLOCK</a:t>
            </a:r>
            <a:r>
              <a:rPr spc="-30" dirty="0"/>
              <a:t> </a:t>
            </a:r>
            <a:r>
              <a:rPr dirty="0"/>
              <a:t>DIAGRAM</a:t>
            </a:r>
            <a:r>
              <a:rPr spc="-2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PROPOSED</a:t>
            </a:r>
            <a:r>
              <a:rPr spc="-25" dirty="0"/>
              <a:t> </a:t>
            </a:r>
            <a:r>
              <a:rPr spc="-20" dirty="0"/>
              <a:t>IDEA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809625" cy="10287000"/>
          </a:xfrm>
          <a:custGeom>
            <a:avLst/>
            <a:gdLst/>
            <a:ahLst/>
            <a:cxnLst/>
            <a:rect l="l" t="t" r="r" b="b"/>
            <a:pathLst>
              <a:path w="809625" h="10287000">
                <a:moveTo>
                  <a:pt x="809276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809276" y="0"/>
                </a:lnTo>
                <a:lnTo>
                  <a:pt x="809276" y="10286999"/>
                </a:lnTo>
                <a:close/>
              </a:path>
            </a:pathLst>
          </a:custGeom>
          <a:solidFill>
            <a:srgbClr val="593C8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7092" y="3302681"/>
            <a:ext cx="8162925" cy="49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dirty="0">
                <a:latin typeface="Times New Roman"/>
                <a:cs typeface="Times New Roman"/>
              </a:rPr>
              <a:t>Describe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your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Technology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stack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and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Use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Cases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-20" dirty="0">
                <a:latin typeface="Times New Roman"/>
                <a:cs typeface="Times New Roman"/>
              </a:rPr>
              <a:t>here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28722" y="1984678"/>
            <a:ext cx="15991205" cy="19050"/>
          </a:xfrm>
          <a:custGeom>
            <a:avLst/>
            <a:gdLst/>
            <a:ahLst/>
            <a:cxnLst/>
            <a:rect l="l" t="t" r="r" b="b"/>
            <a:pathLst>
              <a:path w="15991205" h="19050">
                <a:moveTo>
                  <a:pt x="0" y="19049"/>
                </a:moveTo>
                <a:lnTo>
                  <a:pt x="1599098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19709" y="593631"/>
            <a:ext cx="1076406" cy="10875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5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809625" cy="10287000"/>
          </a:xfrm>
          <a:custGeom>
            <a:avLst/>
            <a:gdLst/>
            <a:ahLst/>
            <a:cxnLst/>
            <a:rect l="l" t="t" r="r" b="b"/>
            <a:pathLst>
              <a:path w="809625" h="10287000">
                <a:moveTo>
                  <a:pt x="809276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809276" y="0"/>
                </a:lnTo>
                <a:lnTo>
                  <a:pt x="809276" y="10286999"/>
                </a:lnTo>
                <a:close/>
              </a:path>
            </a:pathLst>
          </a:custGeom>
          <a:solidFill>
            <a:srgbClr val="593C8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SUSTAINABILITY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809625" cy="10287000"/>
          </a:xfrm>
          <a:custGeom>
            <a:avLst/>
            <a:gdLst/>
            <a:ahLst/>
            <a:cxnLst/>
            <a:rect l="l" t="t" r="r" b="b"/>
            <a:pathLst>
              <a:path w="809625" h="10287000">
                <a:moveTo>
                  <a:pt x="809276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809276" y="0"/>
                </a:lnTo>
                <a:lnTo>
                  <a:pt x="809276" y="10286999"/>
                </a:lnTo>
                <a:close/>
              </a:path>
            </a:pathLst>
          </a:custGeom>
          <a:solidFill>
            <a:srgbClr val="593C8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SCALE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IMPACT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FUTURE</a:t>
            </a:r>
            <a:r>
              <a:rPr spc="-20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809625" cy="10287000"/>
          </a:xfrm>
          <a:custGeom>
            <a:avLst/>
            <a:gdLst/>
            <a:ahLst/>
            <a:cxnLst/>
            <a:rect l="l" t="t" r="r" b="b"/>
            <a:pathLst>
              <a:path w="809625" h="10287000">
                <a:moveTo>
                  <a:pt x="809276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809276" y="0"/>
                </a:lnTo>
                <a:lnTo>
                  <a:pt x="809276" y="10286999"/>
                </a:lnTo>
                <a:close/>
              </a:path>
            </a:pathLst>
          </a:custGeom>
          <a:solidFill>
            <a:srgbClr val="593C8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809625" cy="10287000"/>
          </a:xfrm>
          <a:custGeom>
            <a:avLst/>
            <a:gdLst/>
            <a:ahLst/>
            <a:cxnLst/>
            <a:rect l="l" t="t" r="r" b="b"/>
            <a:pathLst>
              <a:path w="809625" h="10287000">
                <a:moveTo>
                  <a:pt x="809276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809276" y="0"/>
                </a:lnTo>
                <a:lnTo>
                  <a:pt x="809276" y="10286999"/>
                </a:lnTo>
                <a:close/>
              </a:path>
            </a:pathLst>
          </a:custGeom>
          <a:solidFill>
            <a:srgbClr val="593C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06550" y="2092965"/>
            <a:ext cx="1882775" cy="60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Problem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(List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problems)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7650" y="2092965"/>
            <a:ext cx="90296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Solution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7650" y="2673101"/>
            <a:ext cx="2875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(Outline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possible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solution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for </a:t>
            </a:r>
            <a:r>
              <a:rPr sz="1800" spc="-10" dirty="0">
                <a:latin typeface="Calibri"/>
                <a:cs typeface="Calibri"/>
              </a:rPr>
              <a:t>problem)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34775" y="2092965"/>
            <a:ext cx="2384425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4043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Unique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Value Proposition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libri"/>
                <a:cs typeface="Calibri"/>
              </a:rPr>
              <a:t>(Single,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clear,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compelling </a:t>
            </a:r>
            <a:r>
              <a:rPr sz="1800" b="1" dirty="0">
                <a:latin typeface="Calibri"/>
                <a:cs typeface="Calibri"/>
              </a:rPr>
              <a:t>message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that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states</a:t>
            </a:r>
            <a:r>
              <a:rPr sz="1800" b="1" spc="-25" dirty="0">
                <a:latin typeface="Calibri"/>
                <a:cs typeface="Calibri"/>
              </a:rPr>
              <a:t> why </a:t>
            </a:r>
            <a:r>
              <a:rPr sz="1800" b="1" dirty="0">
                <a:latin typeface="Calibri"/>
                <a:cs typeface="Calibri"/>
              </a:rPr>
              <a:t>you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are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different</a:t>
            </a:r>
            <a:r>
              <a:rPr sz="1800" b="1" spc="-25" dirty="0">
                <a:latin typeface="Calibri"/>
                <a:cs typeface="Calibri"/>
              </a:rPr>
              <a:t> and </a:t>
            </a:r>
            <a:r>
              <a:rPr sz="1800" b="1" dirty="0">
                <a:latin typeface="Calibri"/>
                <a:cs typeface="Calibri"/>
              </a:rPr>
              <a:t>worth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paying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attention)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45149" y="2092965"/>
            <a:ext cx="639889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79090" algn="l"/>
              </a:tabLst>
            </a:pPr>
            <a:r>
              <a:rPr sz="2000" b="1" dirty="0">
                <a:latin typeface="Calibri"/>
                <a:cs typeface="Calibri"/>
              </a:rPr>
              <a:t>Unfair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Advantage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Customer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Segments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(Something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cannot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easily</a:t>
            </a:r>
            <a:r>
              <a:rPr sz="1800" spc="3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(List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target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customers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users)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bought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copied)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6550" y="5387706"/>
            <a:ext cx="1960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Existing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Alternatives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7650" y="5387706"/>
            <a:ext cx="30384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Key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Metrics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(List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tell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business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doing.)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945149" y="5387706"/>
            <a:ext cx="26295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Channels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(List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customers (inbound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outbound)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06550" y="7350355"/>
            <a:ext cx="3175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Cost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Structure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(List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fixed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variable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costs)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46825" y="7350355"/>
            <a:ext cx="2823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Revenue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Structure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(List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sources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revenue)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549400" y="146431"/>
            <a:ext cx="706183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BUISNESS</a:t>
            </a:r>
            <a:r>
              <a:rPr spc="-35" dirty="0"/>
              <a:t> </a:t>
            </a:r>
            <a:r>
              <a:rPr dirty="0"/>
              <a:t>MODEL</a:t>
            </a:r>
            <a:r>
              <a:rPr spc="-30" dirty="0"/>
              <a:t> </a:t>
            </a:r>
            <a:r>
              <a:rPr spc="-10" dirty="0"/>
              <a:t>CANVAS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28722" y="1984678"/>
            <a:ext cx="15991205" cy="19050"/>
          </a:xfrm>
          <a:custGeom>
            <a:avLst/>
            <a:gdLst/>
            <a:ahLst/>
            <a:cxnLst/>
            <a:rect l="l" t="t" r="r" b="b"/>
            <a:pathLst>
              <a:path w="15991205" h="19050">
                <a:moveTo>
                  <a:pt x="0" y="19049"/>
                </a:moveTo>
                <a:lnTo>
                  <a:pt x="1599098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19709" y="593631"/>
            <a:ext cx="1076406" cy="10875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IMPORTANT</a:t>
            </a:r>
            <a:r>
              <a:rPr spc="-55" dirty="0"/>
              <a:t> </a:t>
            </a:r>
            <a:r>
              <a:rPr spc="-10" dirty="0"/>
              <a:t>INSTRUCTIONS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017092" y="3116753"/>
            <a:ext cx="14640560" cy="3316292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pc="70" dirty="0"/>
              <a:t>□Kindly</a:t>
            </a:r>
            <a:r>
              <a:rPr spc="-45" dirty="0"/>
              <a:t> </a:t>
            </a:r>
            <a:r>
              <a:rPr dirty="0"/>
              <a:t>keep</a:t>
            </a:r>
            <a:r>
              <a:rPr spc="-4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maximum</a:t>
            </a:r>
            <a:r>
              <a:rPr spc="-45" dirty="0"/>
              <a:t> </a:t>
            </a:r>
            <a:r>
              <a:rPr dirty="0"/>
              <a:t>slides</a:t>
            </a:r>
            <a:r>
              <a:rPr spc="-45" dirty="0"/>
              <a:t> </a:t>
            </a:r>
            <a:r>
              <a:rPr dirty="0"/>
              <a:t>limit</a:t>
            </a:r>
            <a:r>
              <a:rPr spc="-5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5-6</a:t>
            </a:r>
            <a:r>
              <a:rPr spc="-40" dirty="0"/>
              <a:t> </a:t>
            </a:r>
            <a:r>
              <a:rPr spc="-10" dirty="0"/>
              <a:t>pages</a:t>
            </a: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pc="125" dirty="0"/>
              <a:t>□All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topics</a:t>
            </a:r>
            <a:r>
              <a:rPr spc="-30" dirty="0"/>
              <a:t> </a:t>
            </a:r>
            <a:r>
              <a:rPr dirty="0"/>
              <a:t>should</a:t>
            </a:r>
            <a:r>
              <a:rPr spc="-30" dirty="0"/>
              <a:t> </a:t>
            </a:r>
            <a:r>
              <a:rPr dirty="0"/>
              <a:t>be</a:t>
            </a:r>
            <a:r>
              <a:rPr spc="-35" dirty="0"/>
              <a:t> </a:t>
            </a:r>
            <a:r>
              <a:rPr dirty="0"/>
              <a:t>utilized</a:t>
            </a:r>
            <a:r>
              <a:rPr spc="-3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description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your</a:t>
            </a:r>
            <a:r>
              <a:rPr spc="-25" dirty="0"/>
              <a:t> </a:t>
            </a:r>
            <a:r>
              <a:rPr spc="-20" dirty="0"/>
              <a:t>idea</a:t>
            </a: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pc="120" dirty="0"/>
              <a:t>□Try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avoid</a:t>
            </a:r>
            <a:r>
              <a:rPr spc="-20" dirty="0"/>
              <a:t> </a:t>
            </a:r>
            <a:r>
              <a:rPr dirty="0"/>
              <a:t>paragraphs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post</a:t>
            </a:r>
            <a:r>
              <a:rPr spc="-20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dirty="0"/>
              <a:t>idea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points</a:t>
            </a: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pc="95" dirty="0"/>
              <a:t>□Keep</a:t>
            </a:r>
            <a:r>
              <a:rPr spc="-5" dirty="0"/>
              <a:t> </a:t>
            </a:r>
            <a:r>
              <a:rPr dirty="0"/>
              <a:t>your</a:t>
            </a:r>
            <a:r>
              <a:rPr spc="5" dirty="0"/>
              <a:t> </a:t>
            </a:r>
            <a:r>
              <a:rPr dirty="0"/>
              <a:t>explanation</a:t>
            </a:r>
            <a:r>
              <a:rPr spc="-5" dirty="0"/>
              <a:t> </a:t>
            </a:r>
            <a:r>
              <a:rPr dirty="0"/>
              <a:t>precisely</a:t>
            </a:r>
            <a:r>
              <a:rPr spc="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easy to </a:t>
            </a:r>
            <a:r>
              <a:rPr spc="-10" dirty="0"/>
              <a:t>understand</a:t>
            </a: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pc="95" dirty="0" smtClean="0"/>
              <a:t>□</a:t>
            </a:r>
            <a:r>
              <a:rPr dirty="0" smtClean="0"/>
              <a:t>If</a:t>
            </a:r>
            <a:r>
              <a:rPr spc="-30" dirty="0" smtClean="0"/>
              <a:t> </a:t>
            </a:r>
            <a:r>
              <a:rPr dirty="0" smtClean="0"/>
              <a:t>i</a:t>
            </a:r>
            <a:r>
              <a:rPr lang="en-US" dirty="0" smtClean="0"/>
              <a:t>dea</a:t>
            </a:r>
            <a:r>
              <a:rPr spc="-30" dirty="0" smtClean="0"/>
              <a:t> </a:t>
            </a:r>
            <a:r>
              <a:rPr dirty="0"/>
              <a:t>has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business</a:t>
            </a:r>
            <a:r>
              <a:rPr spc="-35" dirty="0"/>
              <a:t> </a:t>
            </a:r>
            <a:r>
              <a:rPr dirty="0"/>
              <a:t>potential</a:t>
            </a:r>
            <a:r>
              <a:rPr spc="-35" dirty="0"/>
              <a:t> </a:t>
            </a:r>
            <a:r>
              <a:rPr dirty="0"/>
              <a:t>more</a:t>
            </a:r>
            <a:r>
              <a:rPr spc="-30" dirty="0"/>
              <a:t> </a:t>
            </a:r>
            <a:r>
              <a:rPr dirty="0"/>
              <a:t>weightage</a:t>
            </a:r>
            <a:r>
              <a:rPr spc="-35" dirty="0"/>
              <a:t> </a:t>
            </a:r>
            <a:r>
              <a:rPr dirty="0"/>
              <a:t>will</a:t>
            </a:r>
            <a:r>
              <a:rPr spc="-30" dirty="0"/>
              <a:t> </a:t>
            </a:r>
            <a:r>
              <a:rPr dirty="0"/>
              <a:t>be</a:t>
            </a:r>
            <a:r>
              <a:rPr spc="-35" dirty="0"/>
              <a:t> </a:t>
            </a:r>
            <a:r>
              <a:rPr spc="-10" dirty="0"/>
              <a:t>given.</a:t>
            </a: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809625" cy="10287000"/>
          </a:xfrm>
          <a:custGeom>
            <a:avLst/>
            <a:gdLst/>
            <a:ahLst/>
            <a:cxnLst/>
            <a:rect l="l" t="t" r="r" b="b"/>
            <a:pathLst>
              <a:path w="809625" h="10287000">
                <a:moveTo>
                  <a:pt x="809276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809276" y="0"/>
                </a:lnTo>
                <a:lnTo>
                  <a:pt x="809276" y="10286999"/>
                </a:lnTo>
                <a:close/>
              </a:path>
            </a:pathLst>
          </a:custGeom>
          <a:solidFill>
            <a:srgbClr val="593C8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42900"/>
            <a:ext cx="18288000" cy="9944100"/>
            <a:chOff x="0" y="342900"/>
            <a:chExt cx="18288000" cy="9944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42900"/>
              <a:ext cx="18287999" cy="99440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722" y="1984677"/>
              <a:ext cx="15991205" cy="19050"/>
            </a:xfrm>
            <a:custGeom>
              <a:avLst/>
              <a:gdLst/>
              <a:ahLst/>
              <a:cxnLst/>
              <a:rect l="l" t="t" r="r" b="b"/>
              <a:pathLst>
                <a:path w="15991205" h="19050">
                  <a:moveTo>
                    <a:pt x="0" y="19049"/>
                  </a:moveTo>
                  <a:lnTo>
                    <a:pt x="1599098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19709" y="593631"/>
              <a:ext cx="1076406" cy="108758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spc="-50" dirty="0"/>
              <a:t> </a:t>
            </a:r>
            <a:r>
              <a:rPr dirty="0"/>
              <a:t>IF</a:t>
            </a:r>
            <a:r>
              <a:rPr spc="-50" dirty="0"/>
              <a:t> </a:t>
            </a:r>
            <a:r>
              <a:rPr spc="-25" dirty="0"/>
              <a:t>ANY</a:t>
            </a: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809625" cy="10287000"/>
          </a:xfrm>
          <a:custGeom>
            <a:avLst/>
            <a:gdLst/>
            <a:ahLst/>
            <a:cxnLst/>
            <a:rect l="l" t="t" r="r" b="b"/>
            <a:pathLst>
              <a:path w="809625" h="10287000">
                <a:moveTo>
                  <a:pt x="809276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809276" y="0"/>
                </a:lnTo>
                <a:lnTo>
                  <a:pt x="809276" y="10286999"/>
                </a:lnTo>
                <a:close/>
              </a:path>
            </a:pathLst>
          </a:custGeom>
          <a:solidFill>
            <a:srgbClr val="593C8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4017" y="3086100"/>
            <a:ext cx="4979963" cy="41147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237</Words>
  <Application>Microsoft Office PowerPoint</Application>
  <PresentationFormat>Custom</PresentationFormat>
  <Paragraphs>44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TITLE</vt:lpstr>
      <vt:lpstr>IDEA/APPROACH DETAILS</vt:lpstr>
      <vt:lpstr>BLOCK DIAGRAM OF PROPOSED IDEA</vt:lpstr>
      <vt:lpstr>PROPOSED TECHNOLOGY</vt:lpstr>
      <vt:lpstr>FEASIBILITY AND SUSTAINABILITY</vt:lpstr>
      <vt:lpstr>SCALE OF IMPACT AND FUTURE SCOPE</vt:lpstr>
      <vt:lpstr>BUISNESS MODEL CANVAS</vt:lpstr>
      <vt:lpstr>IMPORTANT INSTRUCTIONS</vt:lpstr>
      <vt:lpstr>REFERENCES IF ANY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Admin</dc:creator>
  <cp:lastModifiedBy>Admin</cp:lastModifiedBy>
  <cp:revision>2</cp:revision>
  <dcterms:created xsi:type="dcterms:W3CDTF">2025-12-25T06:14:29Z</dcterms:created>
  <dcterms:modified xsi:type="dcterms:W3CDTF">2025-12-25T06:33:51Z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2025-12-25T00:00:00Z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2025-12-25T00:00:00Z</vt:filetime>
  </property>
</Properties>
</file>